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Messages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K-01→D-01</c:v>
                  </c:pt>
                  <c:pt idx="1">
                    <c:v>D-01→DL-01</c:v>
                  </c:pt>
                  <c:pt idx="2">
                    <c:v>K-01→D-02</c:v>
                  </c:pt>
                  <c:pt idx="3">
                    <c:v>D-02→DL-02</c:v>
                  </c:pt>
                  <c:pt idx="4">
                    <c:v>D-02→DL-03</c:v>
                  </c:pt>
                  <c:pt idx="5">
                    <c:v>DL-01→B-01</c:v>
                  </c:pt>
                  <c:pt idx="6">
                    <c:v>DL-01→B-02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487</c:v>
                </c:pt>
                <c:pt idx="1">
                  <c:v>312</c:v>
                </c:pt>
                <c:pt idx="2">
                  <c:v>241</c:v>
                </c:pt>
                <c:pt idx="3">
                  <c:v>198</c:v>
                </c:pt>
                <c:pt idx="4">
                  <c:v>156</c:v>
                </c:pt>
                <c:pt idx="5">
                  <c:v>94</c:v>
                </c:pt>
                <c:pt idx="6">
                  <c:v>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434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A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77D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Methamphetamine</c:v>
                  </c:pt>
                  <c:pt idx="1">
                    <c:v>MDMA</c:v>
                  </c:pt>
                  <c:pt idx="2">
                    <c:v>Cannabis</c:v>
                  </c:pt>
                  <c:pt idx="3">
                    <c:v>Heroin</c:v>
                  </c:pt>
                  <c:pt idx="4">
                    <c:v>Cocaine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87</c:v>
                </c:pt>
                <c:pt idx="2">
                  <c:v>99</c:v>
                </c:pt>
                <c:pt idx="3">
                  <c:v>74</c:v>
                </c:pt>
                <c:pt idx="4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434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A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Artifacts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bubble3D val="0"/>
            <c:spPr>
              <a:solidFill>
                <a:srgbClr val="1B2A3B"/>
              </a:solidFill>
              <a:effectLst/>
            </c:spPr>
          </c:dPt>
          <c:dPt>
            <c:idx val="3"/>
            <c:bubble3D val="0"/>
            <c:spPr>
              <a:solidFill>
                <a:srgbClr val="02C39A"/>
              </a:solidFill>
              <a:effectLst/>
            </c:spPr>
          </c:dPt>
          <c:dPt>
            <c:idx val="4"/>
            <c:bubble3D val="0"/>
            <c:spPr>
              <a:solidFill>
                <a:srgbClr val="7F77DD"/>
              </a:solidFill>
              <a:effectLst/>
            </c:spPr>
          </c:dPt>
          <c:dPt>
            <c:idx val="5"/>
            <c:bubble3D val="0"/>
            <c:spPr>
              <a:solidFill>
                <a:srgbClr val="E24B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Chat Messages</c:v>
                </c:pt>
                <c:pt idx="1">
                  <c:v>Media Files</c:v>
                </c:pt>
                <c:pt idx="2">
                  <c:v>Call Records</c:v>
                </c:pt>
                <c:pt idx="3">
                  <c:v>GPS Locations</c:v>
                </c:pt>
                <c:pt idx="4">
                  <c:v>Deleted Records</c:v>
                </c:pt>
                <c:pt idx="5">
                  <c:v>Crypto Txns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2341</c:v>
                </c:pt>
                <c:pt idx="1">
                  <c:v>1238</c:v>
                </c:pt>
                <c:pt idx="2">
                  <c:v>887</c:v>
                </c:pt>
                <c:pt idx="3">
                  <c:v>312</c:v>
                </c:pt>
                <c:pt idx="4">
                  <c:v>156</c:v>
                </c:pt>
                <c:pt idx="5">
                  <c:v>45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K-01→D-02</c:v>
                  </c:pt>
                  <c:pt idx="1">
                    <c:v>D-02→DL-01</c:v>
                  </c:pt>
                  <c:pt idx="2">
                    <c:v>K-01→D-01</c:v>
                  </c:pt>
                  <c:pt idx="3">
                    <c:v>DL-01→B-01</c:v>
                  </c:pt>
                  <c:pt idx="4">
                    <c:v>D-01→DL-01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425</c:v>
                </c:pt>
                <c:pt idx="1">
                  <c:v>210</c:v>
                </c:pt>
                <c:pt idx="2">
                  <c:v>312</c:v>
                </c:pt>
                <c:pt idx="3">
                  <c:v>94</c:v>
                </c:pt>
                <c:pt idx="4">
                  <c:v>187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3291840" cy="475488"/>
          </a:xfrm>
          <a:prstGeom prst="rect">
            <a:avLst/>
          </a:prstGeom>
          <a:solidFill>
            <a:srgbClr val="1B2A3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800-101 R1  |  Digital Forensics  |  Case DF-2024-0847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8503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FORENSIC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20040" y="2395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Illicit Drug Analysis in Forensic Investigations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054096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   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AbhyudaySura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      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2023002619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          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0" y="548640"/>
            <a:ext cx="2194560" cy="219456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2468880"/>
            <a:ext cx="1371600" cy="1371600"/>
          </a:xfrm>
          <a:prstGeom prst="ellipse">
            <a:avLst/>
          </a:prstGeom>
          <a:solidFill>
            <a:srgbClr val="02C39A">
              <a:alpha val="22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3291840"/>
            <a:ext cx="822960" cy="82296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30352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24128"/>
            <a:ext cx="530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1155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92224"/>
            <a:ext cx="530352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792224"/>
            <a:ext cx="530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88366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530352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560320"/>
            <a:ext cx="530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6517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328416"/>
            <a:ext cx="530352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328416"/>
            <a:ext cx="530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41985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Artifact Extraction (Code)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096512"/>
            <a:ext cx="530352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4096512"/>
            <a:ext cx="530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18795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Network Mapping (Code)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024128"/>
            <a:ext cx="530352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024128"/>
            <a:ext cx="530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76672" y="11155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&amp; Network Analysis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792224"/>
            <a:ext cx="530352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1792224"/>
            <a:ext cx="530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76672" y="188366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560320"/>
            <a:ext cx="530352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2560320"/>
            <a:ext cx="530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76672" y="26517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800-101 R1 Framework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3328416"/>
            <a:ext cx="530352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3328416"/>
            <a:ext cx="530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76672" y="341985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4096512"/>
            <a:ext cx="530352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4096512"/>
            <a:ext cx="530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76672" y="418795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058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2926080"/>
            <a:ext cx="22860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309067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30168" y="274320"/>
            <a:ext cx="5257800" cy="768096"/>
          </a:xfrm>
          <a:prstGeom prst="rect">
            <a:avLst/>
          </a:prstGeom>
          <a:solidFill>
            <a:srgbClr val="F0F4F8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30168" y="274320"/>
            <a:ext cx="73152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3383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Digital Evidence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640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artifacts from Android devices related to drug trafficking using forensic tools.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30168" y="1188720"/>
            <a:ext cx="5257800" cy="768096"/>
          </a:xfrm>
          <a:prstGeom prst="rect">
            <a:avLst/>
          </a:prstGeom>
          <a:solidFill>
            <a:srgbClr val="F0F4F8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0168" y="1188720"/>
            <a:ext cx="73152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2527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NIST Framework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4760" y="1554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NIST SP 800-101 R1 — Preservation, Acquisition, Examination, Analysis, Reporting.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30168" y="2103120"/>
            <a:ext cx="5257800" cy="768096"/>
          </a:xfrm>
          <a:prstGeom prst="rect">
            <a:avLst/>
          </a:prstGeom>
          <a:solidFill>
            <a:srgbClr val="F0F4F8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30168" y="2103120"/>
            <a:ext cx="73152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21671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Criminal Networks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94760" y="2468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suspect communication graphs using NetworkX to identify kingpins and hierarchies.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30168" y="3017520"/>
            <a:ext cx="5257800" cy="768096"/>
          </a:xfrm>
          <a:prstGeom prst="rect">
            <a:avLst/>
          </a:prstGeom>
          <a:solidFill>
            <a:srgbClr val="F0F4F8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30168" y="3017520"/>
            <a:ext cx="73152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30815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Correlate Physical &amp; Digital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94760" y="3383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physical drug samples (GC-MS, FTIR) with digital evidence from seized devices.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30168" y="3931920"/>
            <a:ext cx="5257800" cy="768096"/>
          </a:xfrm>
          <a:prstGeom prst="rect">
            <a:avLst/>
          </a:prstGeom>
          <a:solidFill>
            <a:srgbClr val="F0F4F8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30168" y="3931920"/>
            <a:ext cx="73152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39959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Legal Proceedings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94760" y="4297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forensically sound, court-admissible reports with verified chain of custody.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0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57276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960120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0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01368" y="1207008"/>
            <a:ext cx="18288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673352"/>
            <a:ext cx="1572768" cy="3236976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" y="176479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Seizure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1298448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2286000"/>
            <a:ext cx="142646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devices placed in Faraday bags. Isolation verified. Chain of custody form initiated with timestamp and examiner signature.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84248" y="960120"/>
            <a:ext cx="157276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84248" y="960120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0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557016" y="1207008"/>
            <a:ext cx="18288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84248" y="1673352"/>
            <a:ext cx="1572768" cy="3236976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57400" y="176479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Acquisition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21408" y="2194560"/>
            <a:ext cx="1298448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2286000"/>
            <a:ext cx="142646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+ file-system extraction using Cellebrite UFED &amp; ADB. SHA-256 hashes verified before and after. Write-blocker applied.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39896" y="960120"/>
            <a:ext cx="157276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39896" y="960120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0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312664" y="1207008"/>
            <a:ext cx="18288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39896" y="1673352"/>
            <a:ext cx="1572768" cy="3236976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13048" y="176479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Examination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77056" y="2194560"/>
            <a:ext cx="1298448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13048" y="2286000"/>
            <a:ext cx="142646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 SQLite DB (threads_db2.db) parsed. EXIF metadata extracted. Call logs, GPS, deleted messages carved using Autopsy.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95544" y="960120"/>
            <a:ext cx="157276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95544" y="960120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0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7068312" y="1207008"/>
            <a:ext cx="18288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95544" y="1673352"/>
            <a:ext cx="1572768" cy="3236976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68696" y="176479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32704" y="2194560"/>
            <a:ext cx="1298448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68696" y="2286000"/>
            <a:ext cx="142646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flagging on 2,341 messages. Criminal network built with NetworkX. Betweenness centrality computed. Crypto traced via Chainalysis.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51192" y="960120"/>
            <a:ext cx="157276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51192" y="960120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0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7251192" y="1673352"/>
            <a:ext cx="1572768" cy="3236976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24344" y="176479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88352" y="2194560"/>
            <a:ext cx="1298448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24344" y="2286000"/>
            <a:ext cx="142646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witness report compiled per ISO/IEC 27037. NIST SP 800-101 R1 compliance documented. Evidence submitted to court.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NIST SP 800-101 R1 — Guidelines on Mobile Device Forensics  |  Tools: Cellebrite UFED · Magnet AXIOM · Autopsy 4.21 · ADB Shell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 &amp; PREPROCESSING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38912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875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SHA-256 INTEGRITY VERIFICATION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280160"/>
            <a:ext cx="42428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compute_hash(filepath):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= hashlib.sha256()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open(filepath, "rb") as 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chunk in iter(lambda: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f.read(8192), b""):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h.update(chunk)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h.hexdigest()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 = compute_hash(DB_PATH)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print(f"SHA-256: {sha256}")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46320" y="987552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987552"/>
            <a:ext cx="4023360" cy="27432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&amp; ARTIFACT COUNTS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80160"/>
          <a:ext cx="4023360" cy="1207008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2414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14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Messages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14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14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Locations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14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 Messages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2651760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651760"/>
            <a:ext cx="73152" cy="9875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27249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Isolation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38912" y="30540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Android devices placed in Faraday bags immediately. Airplane mode enforced to prevent remote wipe.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651760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2651760"/>
            <a:ext cx="73152" cy="9875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19472" y="27249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 Acquisition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19472" y="30540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backup + Cellebrite UFED logical extraction. SQLite DB (threads_db2.db) pulled from app data.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3767328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3767328"/>
            <a:ext cx="73152" cy="9875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8912" y="3840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 Verification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38912" y="41696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computed before and after acquisition using messenger_forensics.py to ensure integrity.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3767328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3767328"/>
            <a:ext cx="73152" cy="9875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19472" y="3840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Keyword Flagging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919472" y="41696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487 messages flagged from 2,341 using keywords: meet, pick, drop, package, price, transfer, buy.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0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ARTIFACT EXTRACTION — messenger_forensics.py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4297680" cy="1920240"/>
          </a:xfrm>
          <a:prstGeom prst="rect">
            <a:avLst/>
          </a:prstGeom>
          <a:solidFill>
            <a:srgbClr val="0A152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42976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 Messages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362456"/>
            <a:ext cx="411480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extract_messages(conn, keywords=None):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 = """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datetime(m.timestamp_ms/1000,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'unixepoch') as datetime_utc,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c.name as sender,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m.text, m.thread_key,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m.is_deleted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messages 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 JOIN contacts 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 m.sender = c.contact_id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 = pd.read_sql_query(query, conn)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df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97680" cy="1920240"/>
          </a:xfrm>
          <a:prstGeom prst="rect">
            <a:avLst/>
          </a:prstGeom>
          <a:solidFill>
            <a:srgbClr val="0A152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42976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Keyword Flagging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62456"/>
            <a:ext cx="411480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 = ["meet","pick","drop",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"package","price","buy",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"sell","stuff","location","transfer"]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= "|".join(KEYWORDS)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df["flagged"] = df["text"].str.contains(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pattern, case=False, na=False)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flagged = df[df["flagged"]]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print(f"Flagged: {len(flagged)}")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487 flagged messages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3017520"/>
            <a:ext cx="4297680" cy="1920240"/>
          </a:xfrm>
          <a:prstGeom prst="rect">
            <a:avLst/>
          </a:prstGeom>
          <a:solidFill>
            <a:srgbClr val="0A152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3017520"/>
            <a:ext cx="42976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017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 Deleted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3419856"/>
            <a:ext cx="411480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extract_deleted(conn):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 = """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datetime(m.timestamp_ms/1000,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'unixepoch') as datetime_utc,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c.name as sender,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m.thread_key, m.text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messages 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 JOIN contacts 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 m.sender = c.contact_id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m.is_deleted =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pd.read_sql_query(query, conn)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Recovered: 156 deleted messages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297680" cy="1920240"/>
          </a:xfrm>
          <a:prstGeom prst="rect">
            <a:avLst/>
          </a:prstGeom>
          <a:solidFill>
            <a:srgbClr val="0A152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17520"/>
            <a:ext cx="42976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017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&amp; Report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419856"/>
            <a:ext cx="411480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df_messages.to_csv(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"extracted_messages.csv")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df_calls.to_csv(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"extracted_calls.csv")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df_deleted.to_csv(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"deleted_messages.csv")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generate_report(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db_path, df_msg,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df_calls, df_deleted, sha256)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forensic_report.txt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" y="4919472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3.11 · sqlite3 (built-in) · pandas · hashlib  |  Output: 4 CSV files + forensic_report.txt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CRIMINAL NETWORK MAPPING — criminal_network.py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937760" cy="3977640"/>
          </a:xfrm>
          <a:prstGeom prst="rect">
            <a:avLst/>
          </a:prstGeom>
          <a:solidFill>
            <a:srgbClr val="1E2A3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326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criminal_network.py — NetworkX Graph Construction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networkx as nx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Build suspect nodes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suspects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"K-01": {"name":"Boss",   "role":"kingpin"},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"D-01": {"name":"Rahman", "role":"distributor"},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"D-02": {"name":"Anwar",  "role":"distributor"},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"DL-01":{"name":"Kumar",  "role":"dealer"},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"DL-02":{"name":"Ravi",   "role":"dealer"},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"DL-03":{"name":"Syed",   "role":"dealer"},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"B-01": {"name":"Buyer1", "role":"buyer"},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Communication edges (src, dst, msgs)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("K-01","D-01",487), ("K-01","D-02",241),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("D-01","DL-01",312),("D-01","DL-02",198),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("D-02","DL-03",156),("DL-01","B-01",94),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Build directed graph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nx.DiGraph()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nid, attrs in suspects.items():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G.add_node(nid, **attrs)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src, dst, w in edges: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G.add_edge(src, dst, weight=w)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Betweenness centrality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betweenness = nx.betweenness_centrality(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G, weight="weight")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print(betweenness)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K-01: 1.0000 | D-01: 0.5833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D-02: 0.4167 | DL-01: 0.1667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Visualize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nx.draw_networkx(G, pos, ...)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plt.savefig("network.png", dpi=150)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94960" y="9601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Betweenness Centrality Output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0" y="1353312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1353312"/>
            <a:ext cx="54864" cy="4572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3898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K-01 (Boss)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32120" y="160934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Kingpin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71232" y="14447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1883664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94960" y="1883664"/>
            <a:ext cx="54864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9202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D-01 (Rahman)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213969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71232" y="197510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0.5833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94960" y="2414016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94960" y="2414016"/>
            <a:ext cx="54864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505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D-02 (Anwar)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267004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71232" y="250545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0.4167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94960" y="2944368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94960" y="2944368"/>
            <a:ext cx="54864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298094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DL-01 (Kumar)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32120" y="32004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71232" y="303580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0.1667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94960" y="3474720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94960" y="3474720"/>
            <a:ext cx="54864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35112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DL-02 (Ravi)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32120" y="37307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71232" y="35661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0.0833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394960" y="4005072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94960" y="4005072"/>
            <a:ext cx="54864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40416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DL-03 (Syed)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32120" y="426110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71232" y="40965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0.0833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4617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= more critical node in network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&amp; NETWORK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129844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6824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high-priority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914400"/>
            <a:ext cx="2011680" cy="129844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058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50592" y="16824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Seized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50592" y="19659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Android, 3 other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914400"/>
            <a:ext cx="2011680" cy="12984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0058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4,823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26864" y="16824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26864" y="19659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+ calls + files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914400"/>
            <a:ext cx="2011680" cy="1298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0058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803136" y="16824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Nodes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03136" y="19659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clusters identified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3774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 Volume by Suspect Link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2743200"/>
          <a:ext cx="4389120" cy="2176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4754880" y="23774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Drug Identification Confidence (%)</a:t>
            </a:r>
            <a:endParaRPr lang="en-US" sz="13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663440" y="2743200"/>
          <a:ext cx="4297680" cy="2176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VISUALISATION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Type Distribution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82880" y="1325880"/>
          <a:ext cx="4206240" cy="3547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Duration by Suspect Pair (seconds)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663440" y="1325880"/>
          <a:ext cx="4297680" cy="3547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0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NIST SP 800-101 R1 — FRAMEWORK APPLICATION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94360" cy="6583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960120"/>
            <a:ext cx="78638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0149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Preservation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10149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Faraday Bag · ADB Disable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307592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isolated, photographed. Airplane mode enforced. Chain of custody form initiated with timestamp and examiner signature.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594360" cy="65836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78308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05840" y="1783080"/>
            <a:ext cx="78638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18379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Acquisition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18379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Cellebrite UFED · ADB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2130552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+ file-system extraction. SHA-256 hash verified before and after. Write-blocker applied throughout the process.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06040"/>
            <a:ext cx="59436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60604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05840" y="2606040"/>
            <a:ext cx="78638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26609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Examination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17520" y="26609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Autopsy · DB Browser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" y="2953512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threads_db2.db parsed. EXIF metadata extracted from media. Call logs analysed. is_deleted flag used for message carving.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59436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342900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05840" y="3429000"/>
            <a:ext cx="78638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34838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17520" y="3483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NetworkX · Chainalysis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5568" y="3776472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487 messages keyword-flagged. Criminal network graph built. Betweenness centrality computed. 45 crypto transactions traced.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251960"/>
            <a:ext cx="594360" cy="6583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" y="425196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005840" y="4251960"/>
            <a:ext cx="78638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43068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17520" y="43068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ISO/IEC 27037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15568" y="4599432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witness report compiled. All findings hash-verified. NIST SP 800-101 R1 compliance documented. Court submission ready.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KEY FINDINGS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50976"/>
            <a:ext cx="8595360" cy="1005840"/>
          </a:xfrm>
          <a:prstGeom prst="rect">
            <a:avLst/>
          </a:prstGeom>
          <a:solidFill>
            <a:srgbClr val="0D1B2A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FINDING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Suspect K-01 (Boss) identified as Kingpin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0" y="107899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centrality = 1.0000 — all communication paths pass through K-01. Crypto wallet linked to ₹24L in transactions.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21408"/>
            <a:ext cx="73152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18541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K-01 SHA-256 Hash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4871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integrity verified — a3f82c1d... — chain of custody maintained throughout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21408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73152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218541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487 Flagged Messages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24871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meet, drop, package, price, transfer — from threads T-001 through T-004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73152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08152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156 Deleted Messages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383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using is_deleted flag in threads_db2.db — included in forensic report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017520"/>
            <a:ext cx="73152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08152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 Crypto Transactions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3383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wallet 1A3x... traced to K-01 — total value approximately ₹24 Lakhs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913632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913632"/>
            <a:ext cx="73152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9776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GPS Hotspot Clusters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279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metadata from 312 coordinates reveals drop points near Old Market &amp; Bridge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913632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913632"/>
            <a:ext cx="73152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9776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NIST Phases Complete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9472" y="4279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NIST SP 800-101 R1 phases completed — report ready for court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0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06984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69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969264"/>
            <a:ext cx="82296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042416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 examination of 12 Android devices successfully extracted 4,823 artifacts including 2,341 messages, 887 call records, and 156 deleted messages.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74650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7465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1645920"/>
            <a:ext cx="82296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719072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flagging identified 487 drug-related communications across 4 message threads, directly linking suspects to distribution activities.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2423160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2322576"/>
            <a:ext cx="82296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395728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network analysis via NetworkX confirmed K-01 (Boss) as the kingpin with a betweenness centrality of 1.0000 — all supply chain paths pass through this node.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309981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099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2999232"/>
            <a:ext cx="82296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072384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800-101 R1 framework ensured forensic soundness — SHA-256 integrity hashes, write-blockers, and chain of custody documentation maintained throughout.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" y="3776472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776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" y="3675888"/>
            <a:ext cx="82296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74904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GC-MS chemical analysis confirmed Methamphetamine (92%) and MDMA (87%) in physical samples, corroborated by digital evidence from seized devices.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" y="445312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4453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" y="4352544"/>
            <a:ext cx="82296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4425696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compiled into a court-admissible forensic report with full NIST and ISO/IEC 27037 compliance, ready for prosecution in Case DF-2024-0847.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943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5943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NIST SP 800-101 R1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26464"/>
            <a:ext cx="3429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on Mobile Device Forensics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Standards &amp; Technology, 2014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5943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5943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09728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Cellebrite UFED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426464"/>
            <a:ext cx="3429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Forensic Extraction Device Documentation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https://cellebrite.com/en/ufed/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86000"/>
            <a:ext cx="5943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86000"/>
            <a:ext cx="5943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3774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706624"/>
            <a:ext cx="3429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NetworkX: Network Analysis in Python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https://networkx.org/documentation/stable/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86000"/>
            <a:ext cx="5943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86000"/>
            <a:ext cx="5943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23774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Autopsy 4.21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706624"/>
            <a:ext cx="3429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Digital Forensics 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https://www.autopsy.com/download/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566160"/>
            <a:ext cx="5943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66160"/>
            <a:ext cx="5943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365760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ISO/IEC 27037:2012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986784"/>
            <a:ext cx="3429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Identification, Collection, Acquisition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Preservation of Digital Evidence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66160"/>
            <a:ext cx="5943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66160"/>
            <a:ext cx="5943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365760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&amp; Matplotlib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3986784"/>
            <a:ext cx="3429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Analysis &amp; Visualisation Libraries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https://pandas.pydata.org  |  https://matplotlib.org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3291840" cy="329184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 and attention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200400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AbhyudaySura  </a:t>
            </a:r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2023002619  |  </a:t>
            </a:r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50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 Intelligence for Illicit Drug Analysis  ·  Case DF-2024-0847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Forensic Intelligence for Illicit Drug Analysis</dc:title>
  <dc:subject>PptxGenJS Presentation</dc:subject>
  <dc:creator>AbhyudaySura</dc:creator>
  <cp:lastModifiedBy>AbhyudaySura</cp:lastModifiedBy>
  <cp:revision>1</cp:revision>
  <dcterms:created xsi:type="dcterms:W3CDTF">2026-03-16T18:58:11Z</dcterms:created>
  <dcterms:modified xsi:type="dcterms:W3CDTF">2026-03-16T18:58:11Z</dcterms:modified>
</cp:coreProperties>
</file>